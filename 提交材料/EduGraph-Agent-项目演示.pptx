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开场（15s）：各位评委好，我们的作品是 EduGraph-Agent——一个基于知识图谱与多智能体协同的个性化学习平台，面向《机器学习》课程学习场景，回应 A3 赛题'基于大模型的个性化资源生成与学习多智能体系统'。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痛点（40s）：三类现有方案各有缺口——平台千人一面、通用 AI 不懂课程结构且易幻觉、刷题工具割裂。而学生的真实需求是多模态、个性化、路径规划、复习闭环。结论：需要懂课程结构、能追溯依据、会记住学生的学习智能体。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（35s）：一句话主线——学生说想学什么，系统在图谱上定位知识点和前置依赖，用证据生成个性化资源，练习结果回写画像并调整路径。支撑它的是三个闭环：学习闭环、反馈闭环、记忆闭环，三环叠加让系统越用越懂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架构（30s）：四层——Vue3 前端 14 个页面；FastAPI 52 个端点含 SSE 流式；核心是 LangGraph 17 节点编排的多智能体层；数据层三库分工：Neo4j 放图谱、ChromaDB 放向量、SQLite 放业务。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核心技术一（50s）：整条对话由 LangGraph 17 节点编排。四个关键设计：11 类意图条件路由；证据质量评分不足自动二次检索；资源生成后自反思回流改进；错误恢复节点统一兜底。所有节点执行过程通过 SSE 推到前端实时展示——智能体不是黑盒。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核心技术二（45s）：区别于普通 RAG，我们先把问题解析到图谱节点——精确匹配不中再走 LLM 语义解析；然后双通道并行：Neo4j 上 1 到 3 跳依赖扩展 + ChromaDB 1182 条课程语义视图检索；融合排序后产出证据包，含多跳依赖路径摘要。宽泛问题自动降级不硬答。价值：每条回答可追溯，机制上抑制幻觉。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核心技术三（40s）：学生建模三位一体——8 维画像对话式构建；行为画像用 8 类一键反馈标签做 EMA 增量更新，下次回答立刻适应；语义记忆让系统跨会话记得学生。所有掌握度更新都带证据链，系统为什么这样判断，全程可查。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核心技术四（45s）：一键生成 6 类资源——文档、导图、练习、视频脚本、代码、图片，并发执行。关键是自修复闭环：生成后按类型校验，失败把原因喂回 LLM 修复再校验，仍失败就明确标注并支持单独重试。LLM 输出不可控是多智能体落地最大障碍，这套链路把概率性生成变成工程可靠交付。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路径与练习（35s）：路径推荐从 5 类来源取候选，经 Kahn 拓扑排序保证前置有序，每个节点都带推荐理由和证据。练习覆盖 4 种题型全部后端评分，编程题还做 AST 检查；错题按错误类型聚合，成绩回写画像后路径立即更新。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体验（30s）：六个体验设计——过程可见、依据可查、诚实降级、富媒体渲染、零负担反馈、动机维持。统一在'不只给结果'的原则下：让学生看到智能体如何工作、为什么这样回答、下一步去哪。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规模（25s）：17 个编排节点、370 节点 1067 关系的图谱、1182 条语义视图、52 个 API、14 个页面、6 类资源、54 道题 161 条 FAQ 24 个代码案例、11 章讲义 50 个知识点——数据集全部人工建设，可重复导入。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演示（20s 引入）：演示围绕一位学生主线：一键登录、对话建画像、向学习助手提一个不含术语的问题——'从后往前算梯度的过程'，系统识别为反向传播并补齐前置，随后依次展示图谱、6 类资源、练习、路径、反馈、成长、报告，7 分钟闭环。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创新点（40s）：五条——一，图谱驱动可解释，机制性抑制幻觉；二，生成-校验-自修复闭环，让 LLM 输出可靠交付；三，质量决策写进编排图本身；四，三闭环个性化，越用越懂你；五，全链路证据链，加上 Spec 驱动的可审计 AI 开发流程。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工程（30s）：开发采用 Spec 驱动 + AI 辅助 + 人工验收，过程全留痕可审计；测试四层覆盖含降级异常演练；部署本地和 Docker 双方案；安全上双 token、bcrypt、越权校验、密钥不入库。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收尾（10s）：EduGraph-Agent，让每一次学习有依据、有路径、有回响。谢谢各位评委，欢迎提问。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2011680"/>
            <a:ext cx="6858000" cy="6858000"/>
          </a:xfrm>
          <a:prstGeom prst="ellipse">
            <a:avLst/>
          </a:prstGeom>
          <a:solidFill>
            <a:srgbClr val="1D4FC0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7C3AED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9692640" y="4318254"/>
            <a:ext cx="864108" cy="528066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56748" y="4318254"/>
            <a:ext cx="768096" cy="672084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0412730" y="4990338"/>
            <a:ext cx="912114" cy="672084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692640" y="4846320"/>
            <a:ext cx="720090" cy="816102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0556748" y="4270248"/>
            <a:ext cx="1344168" cy="48006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324844" y="4270248"/>
            <a:ext cx="576072" cy="720090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324844" y="4990338"/>
            <a:ext cx="864108" cy="576072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412730" y="5566410"/>
            <a:ext cx="1776222" cy="96012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116567" y="4846320"/>
            <a:ext cx="576073" cy="576072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8972550" y="4174235"/>
            <a:ext cx="720090" cy="672085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8972550" y="4174235"/>
            <a:ext cx="144017" cy="1248157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8972550" y="4174235"/>
            <a:ext cx="1584198" cy="144019"/>
          </a:xfrm>
          <a:prstGeom prst="line">
            <a:avLst/>
          </a:prstGeom>
          <a:ln w="12700">
            <a:solidFill>
              <a:srgbClr val="6B84C4">
                <a:alpha val="38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619488" y="4773168"/>
            <a:ext cx="146304" cy="146304"/>
          </a:xfrm>
          <a:prstGeom prst="ellipse">
            <a:avLst/>
          </a:prstGeom>
          <a:solidFill>
            <a:srgbClr val="8FA8E8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1028" y="4272534"/>
            <a:ext cx="91440" cy="91440"/>
          </a:xfrm>
          <a:prstGeom prst="ellipse">
            <a:avLst/>
          </a:prstGeom>
          <a:solidFill>
            <a:srgbClr val="8FA8E8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51692" y="4917186"/>
            <a:ext cx="146304" cy="146304"/>
          </a:xfrm>
          <a:prstGeom prst="ellipse">
            <a:avLst/>
          </a:prstGeom>
          <a:solidFill>
            <a:srgbClr val="8FA8E8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67009" y="5616702"/>
            <a:ext cx="91440" cy="91440"/>
          </a:xfrm>
          <a:prstGeom prst="ellipse">
            <a:avLst/>
          </a:prstGeom>
          <a:solidFill>
            <a:srgbClr val="8FA8E8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27764" y="4197096"/>
            <a:ext cx="146304" cy="146304"/>
          </a:xfrm>
          <a:prstGeom prst="ellipse">
            <a:avLst/>
          </a:prstGeom>
          <a:solidFill>
            <a:srgbClr val="8FA8E8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143232" y="5520690"/>
            <a:ext cx="91440" cy="91440"/>
          </a:xfrm>
          <a:prstGeom prst="ellipse">
            <a:avLst/>
          </a:prstGeom>
          <a:solidFill>
            <a:srgbClr val="8FA8E8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070847" y="5376672"/>
            <a:ext cx="91440" cy="91440"/>
          </a:xfrm>
          <a:prstGeom prst="ellipse">
            <a:avLst/>
          </a:prstGeom>
          <a:solidFill>
            <a:srgbClr val="8FA8E8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26830" y="4128515"/>
            <a:ext cx="91440" cy="91440"/>
          </a:xfrm>
          <a:prstGeom prst="ellipse">
            <a:avLst/>
          </a:prstGeom>
          <a:solidFill>
            <a:srgbClr val="8FA8E8">
              <a:alpha val="6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1554480" y="1019556"/>
            <a:ext cx="576072" cy="352044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30552" y="1019556"/>
            <a:ext cx="512063" cy="448056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034539" y="1467612"/>
            <a:ext cx="608076" cy="448055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54480" y="1371600"/>
            <a:ext cx="480059" cy="544067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30552" y="987552"/>
            <a:ext cx="896111" cy="32004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42615" y="987552"/>
            <a:ext cx="384048" cy="480060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42615" y="1467612"/>
            <a:ext cx="576072" cy="384048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034539" y="1851660"/>
            <a:ext cx="1184148" cy="64007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170432" y="1371600"/>
            <a:ext cx="384048" cy="384048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 flipV="1">
            <a:off x="1074420" y="923544"/>
            <a:ext cx="480060" cy="448056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1074420" y="923544"/>
            <a:ext cx="96012" cy="832104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 flipV="1">
            <a:off x="1074420" y="923544"/>
            <a:ext cx="1056132" cy="96012"/>
          </a:xfrm>
          <a:prstGeom prst="line">
            <a:avLst/>
          </a:prstGeom>
          <a:ln w="12700">
            <a:solidFill>
              <a:srgbClr val="6B84C4">
                <a:alpha val="2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481328" y="1298448"/>
            <a:ext cx="146304" cy="146304"/>
          </a:xfrm>
          <a:prstGeom prst="ellipse">
            <a:avLst/>
          </a:prstGeom>
          <a:solidFill>
            <a:srgbClr val="8FA8E8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084832" y="973836"/>
            <a:ext cx="91440" cy="91440"/>
          </a:xfrm>
          <a:prstGeom prst="ellipse">
            <a:avLst/>
          </a:prstGeom>
          <a:solidFill>
            <a:srgbClr val="8FA8E8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569463" y="1394460"/>
            <a:ext cx="146304" cy="146304"/>
          </a:xfrm>
          <a:prstGeom prst="ellipse">
            <a:avLst/>
          </a:prstGeom>
          <a:solidFill>
            <a:srgbClr val="8FA8E8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988819" y="1869948"/>
            <a:ext cx="91440" cy="91440"/>
          </a:xfrm>
          <a:prstGeom prst="ellipse">
            <a:avLst/>
          </a:prstGeom>
          <a:solidFill>
            <a:srgbClr val="8FA8E8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53511" y="914400"/>
            <a:ext cx="146304" cy="146304"/>
          </a:xfrm>
          <a:prstGeom prst="ellipse">
            <a:avLst/>
          </a:prstGeom>
          <a:solidFill>
            <a:srgbClr val="8FA8E8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72968" y="1805939"/>
            <a:ext cx="91440" cy="91440"/>
          </a:xfrm>
          <a:prstGeom prst="ellipse">
            <a:avLst/>
          </a:prstGeom>
          <a:solidFill>
            <a:srgbClr val="8FA8E8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4712" y="1709928"/>
            <a:ext cx="91440" cy="91440"/>
          </a:xfrm>
          <a:prstGeom prst="ellipse">
            <a:avLst/>
          </a:prstGeom>
          <a:solidFill>
            <a:srgbClr val="8FA8E8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28700" y="877824"/>
            <a:ext cx="91440" cy="91440"/>
          </a:xfrm>
          <a:prstGeom prst="ellipse">
            <a:avLst/>
          </a:prstGeom>
          <a:solidFill>
            <a:srgbClr val="8FA8E8">
              <a:alpha val="4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1481328"/>
            <a:ext cx="324612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中国软件杯 · A3 赛题作品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210312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5600" b="1" i="0">
                <a:solidFill>
                  <a:srgbClr val="FFFFFF"/>
                </a:solidFill>
                <a:latin typeface="微软雅黑"/>
                <a:ea typeface="微软雅黑"/>
              </a:rPr>
              <a:t>EduGraph-Agent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2461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C9D6F2"/>
                </a:solidFill>
                <a:latin typeface="微软雅黑"/>
                <a:ea typeface="微软雅黑"/>
              </a:rPr>
              <a:t>基于知识图谱与多智能体协同的个性化学习平台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0416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9AABD4"/>
                </a:solidFill>
                <a:latin typeface="微软雅黑"/>
                <a:ea typeface="微软雅黑"/>
              </a:rPr>
              <a:t>赛题：基于大模型的个性化资源生成与学习多智能体系统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8640" y="4800600"/>
            <a:ext cx="1801368" cy="420624"/>
          </a:xfrm>
          <a:prstGeom prst="roundRect">
            <a:avLst>
              <a:gd name="adj" fmla="val 50000"/>
            </a:avLst>
          </a:prstGeom>
          <a:solidFill>
            <a:srgbClr val="1E2F5E"/>
          </a:solidFill>
          <a:ln w="12700">
            <a:solidFill>
              <a:srgbClr val="3D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D6F2"/>
                </a:solidFill>
                <a:latin typeface="微软雅黑"/>
                <a:ea typeface="微软雅黑"/>
              </a:rPr>
              <a:t>知识图谱 Neo4j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51176" y="4800600"/>
            <a:ext cx="3218688" cy="420624"/>
          </a:xfrm>
          <a:prstGeom prst="roundRect">
            <a:avLst>
              <a:gd name="adj" fmla="val 50000"/>
            </a:avLst>
          </a:prstGeom>
          <a:solidFill>
            <a:srgbClr val="1E2F5E"/>
          </a:solidFill>
          <a:ln w="12700">
            <a:solidFill>
              <a:srgbClr val="3D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D6F2"/>
                </a:solidFill>
                <a:latin typeface="微软雅黑"/>
                <a:ea typeface="微软雅黑"/>
              </a:rPr>
              <a:t>GraphRAG / HybridRAG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971032" y="4800600"/>
            <a:ext cx="2368296" cy="420624"/>
          </a:xfrm>
          <a:prstGeom prst="roundRect">
            <a:avLst>
              <a:gd name="adj" fmla="val 50000"/>
            </a:avLst>
          </a:prstGeom>
          <a:solidFill>
            <a:srgbClr val="1E2F5E"/>
          </a:solidFill>
          <a:ln w="12700">
            <a:solidFill>
              <a:srgbClr val="3D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D6F2"/>
                </a:solidFill>
                <a:latin typeface="微软雅黑"/>
                <a:ea typeface="微软雅黑"/>
              </a:rPr>
              <a:t>LangGraph 多智能体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40496" y="4800600"/>
            <a:ext cx="1376172" cy="420624"/>
          </a:xfrm>
          <a:prstGeom prst="roundRect">
            <a:avLst>
              <a:gd name="adj" fmla="val 50000"/>
            </a:avLst>
          </a:prstGeom>
          <a:solidFill>
            <a:srgbClr val="1E2F5E"/>
          </a:solidFill>
          <a:ln w="12700">
            <a:solidFill>
              <a:srgbClr val="3D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D6F2"/>
                </a:solidFill>
                <a:latin typeface="微软雅黑"/>
                <a:ea typeface="微软雅黑"/>
              </a:rPr>
              <a:t>多模态资源生成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17836" y="4800600"/>
            <a:ext cx="950976" cy="420624"/>
          </a:xfrm>
          <a:prstGeom prst="roundRect">
            <a:avLst>
              <a:gd name="adj" fmla="val 50000"/>
            </a:avLst>
          </a:prstGeom>
          <a:solidFill>
            <a:srgbClr val="1E2F5E"/>
          </a:solidFill>
          <a:ln w="12700">
            <a:solidFill>
              <a:srgbClr val="3D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D6F2"/>
                </a:solidFill>
                <a:latin typeface="微软雅黑"/>
                <a:ea typeface="微软雅黑"/>
              </a:rPr>
              <a:t>学习闭环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9BC4"/>
                </a:solidFill>
                <a:latin typeface="微软雅黑"/>
                <a:ea typeface="微软雅黑"/>
              </a:rPr>
              <a:t>《机器学习》课程学习场景 · 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为什么需要它——学习痛点与需求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新时代大学生的学习特征，决定了通用方案不够用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13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D4FC0"/>
                </a:solidFill>
                <a:latin typeface="微软雅黑"/>
                <a:ea typeface="微软雅黑"/>
              </a:rPr>
              <a:t>现有方案的不足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13248" cy="1170432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82600" rIns="4826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2937"/>
                </a:solidFill>
                <a:latin typeface="微软雅黑"/>
                <a:ea typeface="微软雅黑"/>
              </a:rPr>
              <a:t>传统在线课程平台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内容千人一面：无诊断、无路径、无跟踪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002536"/>
            <a:ext cx="91440" cy="7315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118104"/>
            <a:ext cx="5413248" cy="1170432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82600" rIns="4826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2937"/>
                </a:solidFill>
                <a:latin typeface="微软雅黑"/>
                <a:ea typeface="微软雅黑"/>
              </a:rPr>
              <a:t>通用聊天 AI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不懂课程结构与前置关系，易幻觉、不记学生状态——“答了但没学会”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337560"/>
            <a:ext cx="91440" cy="7315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453128"/>
            <a:ext cx="5413248" cy="1170432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82600" rIns="4826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1F2937"/>
                </a:solidFill>
                <a:latin typeface="微软雅黑"/>
                <a:ea typeface="微软雅黑"/>
              </a:rPr>
              <a:t>题库刷题工具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只覆盖“练”，与“学”和“规划”割裂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672584"/>
            <a:ext cx="91440" cy="7315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5413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3AED"/>
                </a:solidFill>
                <a:latin typeface="微软雅黑"/>
                <a:ea typeface="微软雅黑"/>
              </a:rPr>
              <a:t>新时代大学生的真实需求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413248" cy="3877056"/>
          </a:xfrm>
          <a:prstGeom prst="roundRect">
            <a:avLst>
              <a:gd name="adj" fmla="val 7000"/>
            </a:avLst>
          </a:prstGeom>
          <a:solidFill>
            <a:srgbClr val="F0EAFC"/>
          </a:solidFill>
          <a:ln w="12700">
            <a:solidFill>
              <a:srgbClr val="D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0" y="2194560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103120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多模态偏好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　数字原住民：图解 / 视频 / 代码比纯文字讲义高效</a:t>
            </a:r>
          </a:p>
        </p:txBody>
      </p:sp>
      <p:sp>
        <p:nvSpPr>
          <p:cNvPr id="15" name="Oval 14"/>
          <p:cNvSpPr/>
          <p:nvPr/>
        </p:nvSpPr>
        <p:spPr>
          <a:xfrm>
            <a:off x="6492240" y="2889503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798063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基础差异显著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　转专业、跨学科普遍，需要个体画像与深度适配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3584447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493007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不知先学什么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　11 章 50 知识点上百条依赖，需要自动路径规划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4279391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4187951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易学易忘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　碎片化学习，需要遗忘检测与复习闭环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4974335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4882895"/>
            <a:ext cx="4636008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要可信的 AI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　需要懂课程体系、能追溯依据的专业学习智能体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70448"/>
            <a:ext cx="11094415" cy="512064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★  </a:t>
            </a:r>
            <a:r>
              <a:rPr sz="1350" b="0" i="0">
                <a:solidFill>
                  <a:srgbClr val="FFFFFF"/>
                </a:solidFill>
                <a:latin typeface="微软雅黑"/>
                <a:ea typeface="微软雅黑"/>
              </a:rPr>
              <a:t>结论：需要一个</a:t>
            </a:r>
            <a:r>
              <a:rPr sz="1350" b="1" i="0">
                <a:solidFill>
                  <a:srgbClr val="F59E0B"/>
                </a:solidFill>
                <a:latin typeface="微软雅黑"/>
                <a:ea typeface="微软雅黑"/>
              </a:rPr>
              <a:t>懂课程结构、能追溯依据、会记住学生</a:t>
            </a:r>
            <a:r>
              <a:rPr sz="1350" b="0" i="0">
                <a:solidFill>
                  <a:srgbClr val="FFFFFF"/>
                </a:solidFill>
                <a:latin typeface="微软雅黑"/>
                <a:ea typeface="微软雅黑"/>
              </a:rPr>
              <a:t>的专业学习智能体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解决方案总览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课程知识图谱为骨架 · LangGraph 多智能体为引擎 · 三闭环个性化为灵魂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22960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C9D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937"/>
                </a:solidFill>
                <a:latin typeface="微软雅黑"/>
                <a:ea typeface="微软雅黑"/>
              </a:rPr>
              <a:t>学生自然语言表达需求 </a:t>
            </a:r>
            <a:r>
              <a:rPr sz="1400" b="1" i="0">
                <a:solidFill>
                  <a:srgbClr val="2563EB"/>
                </a:solidFill>
                <a:latin typeface="微软雅黑"/>
                <a:ea typeface="微软雅黑"/>
              </a:rPr>
              <a:t>→</a:t>
            </a:r>
            <a:r>
              <a:rPr sz="1400" b="1" i="0">
                <a:solidFill>
                  <a:srgbClr val="1F2937"/>
                </a:solidFill>
                <a:latin typeface="微软雅黑"/>
                <a:ea typeface="微软雅黑"/>
              </a:rPr>
              <a:t> 图谱定位知识点与前置依赖 </a:t>
            </a:r>
            <a:r>
              <a:rPr sz="1400" b="1" i="0">
                <a:solidFill>
                  <a:srgbClr val="2563EB"/>
                </a:solidFill>
                <a:latin typeface="微软雅黑"/>
                <a:ea typeface="微软雅黑"/>
              </a:rPr>
              <a:t>→</a:t>
            </a:r>
            <a:r>
              <a:rPr sz="1400" b="1" i="0">
                <a:solidFill>
                  <a:srgbClr val="1F2937"/>
                </a:solidFill>
                <a:latin typeface="微软雅黑"/>
                <a:ea typeface="微软雅黑"/>
              </a:rPr>
              <a:t> 证据驱动生成个性化资源 </a:t>
            </a:r>
            <a:r>
              <a:rPr sz="1400" b="1" i="0">
                <a:solidFill>
                  <a:srgbClr val="2563EB"/>
                </a:solidFill>
                <a:latin typeface="微软雅黑"/>
                <a:ea typeface="微软雅黑"/>
              </a:rPr>
              <a:t>→</a:t>
            </a:r>
            <a:r>
              <a:rPr sz="1400" b="1" i="0">
                <a:solidFill>
                  <a:srgbClr val="1F2937"/>
                </a:solidFill>
                <a:latin typeface="微软雅黑"/>
                <a:ea typeface="微软雅黑"/>
              </a:rPr>
              <a:t> 练习反馈回写画像 </a:t>
            </a:r>
            <a:r>
              <a:rPr sz="1400" b="1" i="0">
                <a:solidFill>
                  <a:srgbClr val="2563EB"/>
                </a:solidFill>
                <a:latin typeface="微软雅黑"/>
                <a:ea typeface="微软雅黑"/>
              </a:rPr>
              <a:t>→</a:t>
            </a:r>
            <a:r>
              <a:rPr sz="1400" b="1" i="0">
                <a:solidFill>
                  <a:srgbClr val="1F2937"/>
                </a:solidFill>
                <a:latin typeface="微软雅黑"/>
                <a:ea typeface="微软雅黑"/>
              </a:rPr>
              <a:t> 路径动态调整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14600"/>
            <a:ext cx="3527450" cy="2606040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" y="276148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学习闭环</a:t>
            </a:r>
          </a:p>
        </p:txBody>
      </p:sp>
      <p:sp>
        <p:nvSpPr>
          <p:cNvPr id="7" name="Oval 6"/>
          <p:cNvSpPr/>
          <p:nvPr/>
        </p:nvSpPr>
        <p:spPr>
          <a:xfrm>
            <a:off x="822959" y="3538727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456432"/>
            <a:ext cx="284165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</a:rPr>
              <a:t>对话 → 诊断 → 资源 → 练习</a:t>
            </a:r>
          </a:p>
        </p:txBody>
      </p:sp>
      <p:sp>
        <p:nvSpPr>
          <p:cNvPr id="9" name="Oval 8"/>
          <p:cNvSpPr/>
          <p:nvPr/>
        </p:nvSpPr>
        <p:spPr>
          <a:xfrm>
            <a:off x="822959" y="4050791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968496"/>
            <a:ext cx="284165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</a:rPr>
              <a:t>成绩回写掌握度（带证据链）</a:t>
            </a:r>
          </a:p>
        </p:txBody>
      </p:sp>
      <p:sp>
        <p:nvSpPr>
          <p:cNvPr id="11" name="Oval 10"/>
          <p:cNvSpPr/>
          <p:nvPr/>
        </p:nvSpPr>
        <p:spPr>
          <a:xfrm>
            <a:off x="822959" y="456285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480560"/>
            <a:ext cx="284165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</a:rPr>
              <a:t>拓扑排序路径随掌握度调整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2122" y="2514600"/>
            <a:ext cx="3527450" cy="2606040"/>
          </a:xfrm>
          <a:prstGeom prst="roundRect">
            <a:avLst>
              <a:gd name="adj" fmla="val 7000"/>
            </a:avLst>
          </a:prstGeom>
          <a:solidFill>
            <a:srgbClr val="F0EA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88154" y="276148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反馈闭环</a:t>
            </a:r>
          </a:p>
        </p:txBody>
      </p:sp>
      <p:sp>
        <p:nvSpPr>
          <p:cNvPr id="15" name="Oval 14"/>
          <p:cNvSpPr/>
          <p:nvPr/>
        </p:nvSpPr>
        <p:spPr>
          <a:xfrm>
            <a:off x="4606442" y="3538727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7610" y="3456432"/>
            <a:ext cx="284165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</a:rPr>
              <a:t>8 类一键反馈标签（没看懂/太深了…）</a:t>
            </a:r>
          </a:p>
        </p:txBody>
      </p:sp>
      <p:sp>
        <p:nvSpPr>
          <p:cNvPr id="17" name="Oval 16"/>
          <p:cNvSpPr/>
          <p:nvPr/>
        </p:nvSpPr>
        <p:spPr>
          <a:xfrm>
            <a:off x="4606442" y="4050791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7610" y="3968496"/>
            <a:ext cx="284165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</a:rPr>
              <a:t>EMA 增量更新行为画像</a:t>
            </a:r>
          </a:p>
        </p:txBody>
      </p:sp>
      <p:sp>
        <p:nvSpPr>
          <p:cNvPr id="19" name="Oval 18"/>
          <p:cNvSpPr/>
          <p:nvPr/>
        </p:nvSpPr>
        <p:spPr>
          <a:xfrm>
            <a:off x="4606442" y="4562856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7610" y="4480560"/>
            <a:ext cx="284165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</a:rPr>
              <a:t>下一次回答立刻适应深度与形式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5604" y="2514600"/>
            <a:ext cx="3527450" cy="2606040"/>
          </a:xfrm>
          <a:prstGeom prst="roundRect">
            <a:avLst>
              <a:gd name="adj" fmla="val 7000"/>
            </a:avLst>
          </a:prstGeom>
          <a:solidFill>
            <a:srgbClr val="E7F6F0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71636" y="2761488"/>
            <a:ext cx="1481328" cy="45720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记忆闭环</a:t>
            </a:r>
          </a:p>
        </p:txBody>
      </p:sp>
      <p:sp>
        <p:nvSpPr>
          <p:cNvPr id="23" name="Oval 22"/>
          <p:cNvSpPr/>
          <p:nvPr/>
        </p:nvSpPr>
        <p:spPr>
          <a:xfrm>
            <a:off x="8389924" y="3538727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1092" y="3456432"/>
            <a:ext cx="284165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</a:rPr>
              <a:t>对话后 LLM 自动提取记忆</a:t>
            </a:r>
          </a:p>
        </p:txBody>
      </p:sp>
      <p:sp>
        <p:nvSpPr>
          <p:cNvPr id="25" name="Oval 24"/>
          <p:cNvSpPr/>
          <p:nvPr/>
        </p:nvSpPr>
        <p:spPr>
          <a:xfrm>
            <a:off x="8389924" y="4050791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1092" y="3968496"/>
            <a:ext cx="284165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</a:rPr>
              <a:t>ChromaDB 向量化存储</a:t>
            </a:r>
          </a:p>
        </p:txBody>
      </p:sp>
      <p:sp>
        <p:nvSpPr>
          <p:cNvPr id="27" name="Oval 26"/>
          <p:cNvSpPr/>
          <p:nvPr/>
        </p:nvSpPr>
        <p:spPr>
          <a:xfrm>
            <a:off x="8389924" y="4562856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1092" y="4480560"/>
            <a:ext cx="284165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微软雅黑"/>
                <a:ea typeface="微软雅黑"/>
              </a:rPr>
              <a:t>跨会话混合检索注入上下文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76672"/>
            <a:ext cx="11094415" cy="512064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★  </a:t>
            </a:r>
            <a:r>
              <a:rPr sz="1350" b="0" i="0">
                <a:solidFill>
                  <a:srgbClr val="FFFFFF"/>
                </a:solidFill>
                <a:latin typeface="微软雅黑"/>
                <a:ea typeface="微软雅黑"/>
              </a:rPr>
              <a:t>三环叠加：系统“越用越懂你”，且每一次适应对学生</a:t>
            </a:r>
            <a:r>
              <a:rPr sz="1350" b="1" i="0">
                <a:solidFill>
                  <a:srgbClr val="F59E0B"/>
                </a:solidFill>
                <a:latin typeface="微软雅黑"/>
                <a:ea typeface="微软雅黑"/>
              </a:rPr>
              <a:t>可见、可解释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面向《机器学习》课程完整落地：11 章 · 50 核心知识点 · 370 图谱节点 / 1067 关系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系统架构：四层设计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2148840" cy="914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前端展示层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481328"/>
            <a:ext cx="8762695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微软雅黑"/>
                <a:ea typeface="微软雅黑"/>
              </a:rPr>
              <a:t>Vue 3 + TypeScript · 14 页面 / 16 路由 · Element Plus · ECharts · markmap / Mermaid / KaTeX 富媒体渲染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2148840" cy="914400"/>
          </a:xfrm>
          <a:prstGeom prst="roundRect">
            <a:avLst>
              <a:gd name="adj" fmla="val 50000"/>
            </a:avLst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服务接口层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2560320"/>
            <a:ext cx="8762695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微软雅黑"/>
                <a:ea typeface="微软雅黑"/>
              </a:rPr>
              <a:t>FastAPI · 52 个 API 端点（REST + SSE 流式）· JWT 双 token 认证 · 结构化日志 · runtime-status 健康面板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39311"/>
            <a:ext cx="2148840" cy="914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多智能体编排层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3639311"/>
            <a:ext cx="8762695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微软雅黑"/>
                <a:ea typeface="微软雅黑"/>
              </a:rPr>
              <a:t>LangGraph 17 节点 StateGraph · GraphRAG 证据检索 · 6 类资源生成智能体 · 诊断推荐 · 语义记忆 · 反馈分析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18303"/>
            <a:ext cx="2148840" cy="914400"/>
          </a:xfrm>
          <a:prstGeom prst="roundRect">
            <a:avLst>
              <a:gd name="adj" fmla="val 50000"/>
            </a:avLst>
          </a:prstGeom>
          <a:solidFill>
            <a:srgbClr val="1E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数据存储层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4718303"/>
            <a:ext cx="8762695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937"/>
                </a:solidFill>
                <a:latin typeface="微软雅黑"/>
                <a:ea typeface="微软雅黑"/>
              </a:rPr>
              <a:t>Neo4j 知识图谱（370 节点 / 1067 关系）· ChromaDB（语义记忆 + 1182 条课程语义视图）· SQLite（画像 / 会话 / 练习）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481328" y="2400300"/>
            <a:ext cx="201168" cy="155448"/>
          </a:xfrm>
          <a:prstGeom prst="down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481328" y="3479291"/>
            <a:ext cx="201168" cy="155448"/>
          </a:xfrm>
          <a:prstGeom prst="down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1481328" y="4558284"/>
            <a:ext cx="201168" cy="155448"/>
          </a:xfrm>
          <a:prstGeom prst="down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5852160"/>
            <a:ext cx="11094415" cy="512064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◆  </a:t>
            </a: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技术栈：</a:t>
            </a:r>
            <a:r>
              <a:rPr sz="1200" b="0" i="0">
                <a:solidFill>
                  <a:srgbClr val="DBE4F5"/>
                </a:solidFill>
                <a:latin typeface="微软雅黑"/>
                <a:ea typeface="微软雅黑"/>
              </a:rPr>
              <a:t>FastAPI · LangGraph ≥0.2 · LangChain · Neo4j 5.x · ChromaDB · SQLite · Vue 3 · Vite 6 · OpenAI/DeepSeek 兼容端点 · Qwen3-Embedding · 讯飞 HiDream 文生图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核心技术 ① LangGraph 17 节点多智能体编排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质量控制不是外挂兜底，而是编排图里的一等节点</a:t>
            </a:r>
          </a:p>
        </p:txBody>
      </p:sp>
      <p:sp>
        <p:nvSpPr>
          <p:cNvPr id="4" name="Chevron 3"/>
          <p:cNvSpPr/>
          <p:nvPr/>
        </p:nvSpPr>
        <p:spPr>
          <a:xfrm>
            <a:off x="548640" y="1481328"/>
            <a:ext cx="1354632" cy="603504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加载画像</a:t>
            </a:r>
          </a:p>
        </p:txBody>
      </p:sp>
      <p:sp>
        <p:nvSpPr>
          <p:cNvPr id="5" name="Chevron 4"/>
          <p:cNvSpPr/>
          <p:nvPr/>
        </p:nvSpPr>
        <p:spPr>
          <a:xfrm>
            <a:off x="1766112" y="1481328"/>
            <a:ext cx="1354632" cy="603504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检索记忆</a:t>
            </a:r>
          </a:p>
        </p:txBody>
      </p:sp>
      <p:sp>
        <p:nvSpPr>
          <p:cNvPr id="6" name="Chevron 5"/>
          <p:cNvSpPr/>
          <p:nvPr/>
        </p:nvSpPr>
        <p:spPr>
          <a:xfrm>
            <a:off x="2983585" y="1481328"/>
            <a:ext cx="1354632" cy="603504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意图识别</a:t>
            </a:r>
          </a:p>
        </p:txBody>
      </p:sp>
      <p:sp>
        <p:nvSpPr>
          <p:cNvPr id="7" name="Chevron 6"/>
          <p:cNvSpPr/>
          <p:nvPr/>
        </p:nvSpPr>
        <p:spPr>
          <a:xfrm>
            <a:off x="4201058" y="1481328"/>
            <a:ext cx="1354632" cy="603504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证据检索</a:t>
            </a:r>
          </a:p>
        </p:txBody>
      </p:sp>
      <p:sp>
        <p:nvSpPr>
          <p:cNvPr id="8" name="Chevron 7"/>
          <p:cNvSpPr/>
          <p:nvPr/>
        </p:nvSpPr>
        <p:spPr>
          <a:xfrm>
            <a:off x="5418531" y="1481328"/>
            <a:ext cx="1354632" cy="603504"/>
          </a:xfrm>
          <a:prstGeom prst="chevron">
            <a:avLst>
              <a:gd name="adj" fmla="val 5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质量评估</a:t>
            </a:r>
          </a:p>
        </p:txBody>
      </p:sp>
      <p:sp>
        <p:nvSpPr>
          <p:cNvPr id="9" name="Chevron 8"/>
          <p:cNvSpPr/>
          <p:nvPr/>
        </p:nvSpPr>
        <p:spPr>
          <a:xfrm>
            <a:off x="6636004" y="1481328"/>
            <a:ext cx="1354632" cy="603504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资源生成</a:t>
            </a:r>
          </a:p>
        </p:txBody>
      </p:sp>
      <p:sp>
        <p:nvSpPr>
          <p:cNvPr id="10" name="Chevron 9"/>
          <p:cNvSpPr/>
          <p:nvPr/>
        </p:nvSpPr>
        <p:spPr>
          <a:xfrm>
            <a:off x="7853476" y="1481328"/>
            <a:ext cx="1354632" cy="603504"/>
          </a:xfrm>
          <a:prstGeom prst="chevron">
            <a:avLst>
              <a:gd name="adj" fmla="val 5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自反思</a:t>
            </a:r>
          </a:p>
        </p:txBody>
      </p:sp>
      <p:sp>
        <p:nvSpPr>
          <p:cNvPr id="11" name="Chevron 10"/>
          <p:cNvSpPr/>
          <p:nvPr/>
        </p:nvSpPr>
        <p:spPr>
          <a:xfrm>
            <a:off x="9070949" y="1481328"/>
            <a:ext cx="1354632" cy="603504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组合回复</a:t>
            </a:r>
          </a:p>
        </p:txBody>
      </p:sp>
      <p:sp>
        <p:nvSpPr>
          <p:cNvPr id="12" name="Chevron 11"/>
          <p:cNvSpPr/>
          <p:nvPr/>
        </p:nvSpPr>
        <p:spPr>
          <a:xfrm>
            <a:off x="10288422" y="1481328"/>
            <a:ext cx="1354632" cy="603504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记忆提取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945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C3AED"/>
                </a:solidFill>
                <a:latin typeface="微软雅黑"/>
                <a:ea typeface="微软雅黑"/>
              </a:rPr>
              <a:t>■</a:t>
            </a:r>
            <a:r>
              <a:rPr sz="1100" b="0" i="0">
                <a:solidFill>
                  <a:srgbClr val="5B6472"/>
                </a:solidFill>
                <a:latin typeface="微软雅黑"/>
                <a:ea typeface="微软雅黑"/>
              </a:rPr>
              <a:t> 紫色 = 内嵌质量决策节点　　主链之外：update_profile / record_progress / explain_exercise / plan_learning_path / review_assessment / general_tutor / expand_evidence / error_recovery，共 17 节点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33472"/>
            <a:ext cx="5419191" cy="1316736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82600" rIns="4826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2937"/>
                </a:solidFill>
                <a:latin typeface="微软雅黑"/>
                <a:ea typeface="微软雅黑"/>
              </a:rPr>
              <a:t>条件路由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意图识别输出 11 类标签（概念讲解/资源生成/练习辅导/路径规划/画像更新…），分发到不同专家智能体；置信度低时先澄清，不硬答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834640"/>
            <a:ext cx="91440" cy="914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3863" y="2633472"/>
            <a:ext cx="5419191" cy="1316736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82600" rIns="4826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2937"/>
                </a:solidFill>
                <a:latin typeface="微软雅黑"/>
                <a:ea typeface="微软雅黑"/>
              </a:rPr>
              <a:t>质量驱动检索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evaluate_evidence 给证据包打分，低于阈值自动触发 expand_evidence 二次扩展检索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25031" y="2834640"/>
            <a:ext cx="91440" cy="914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078224"/>
            <a:ext cx="5419191" cy="1316736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82600" rIns="4826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2937"/>
                </a:solidFill>
                <a:latin typeface="微软雅黑"/>
                <a:ea typeface="微软雅黑"/>
              </a:rPr>
              <a:t>Agentic 自反思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reflect_on_resources 自检生成资源的完整性与正确性，需要改进时回流重新生成（限 1 次防死循环）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279392"/>
            <a:ext cx="91440" cy="9144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23863" y="4078224"/>
            <a:ext cx="5419191" cy="1316736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82600" rIns="4826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F2937"/>
                </a:solidFill>
                <a:latin typeface="微软雅黑"/>
                <a:ea typeface="微软雅黑"/>
              </a:rPr>
              <a:t>错误恢复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error_recovery 节点统一兜底，按策略选择重试 / 降级组合回复 / 中止，任一环节出错不崩溃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5031" y="4279392"/>
            <a:ext cx="91440" cy="914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650992"/>
            <a:ext cx="11094415" cy="512064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★  </a:t>
            </a: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SSE 流式事件 + 前端 AgentTracePanel：</a:t>
            </a: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17 个节点的执行过程实时可视化——智能体不是黑盒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核心技术 ② GraphRAG × 语义检索双通道（HybridRAG）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先定位图谱节点，再做 1–3 跳依赖扩展与语义检索融合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24912"/>
            <a:ext cx="1572768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微软雅黑"/>
                <a:ea typeface="微软雅黑"/>
              </a:rPr>
              <a:t>学生自然语言问题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12848" y="3044952"/>
            <a:ext cx="310896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15184" y="2724912"/>
            <a:ext cx="1920240" cy="914400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C9D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节点解析（双层）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精确/模糊匹配 → LLM 语义解析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1700784"/>
            <a:ext cx="2697480" cy="1060704"/>
          </a:xfrm>
          <a:prstGeom prst="roundRect">
            <a:avLst>
              <a:gd name="adj" fmla="val 7000"/>
            </a:avLst>
          </a:prstGeom>
          <a:solidFill>
            <a:srgbClr val="F0EAFC"/>
          </a:solidFill>
          <a:ln w="12700">
            <a:solidFill>
              <a:srgbClr val="D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7C3AED"/>
                </a:solidFill>
                <a:latin typeface="微软雅黑"/>
                <a:ea typeface="微软雅黑"/>
              </a:rPr>
              <a:t>图通道 · Neo4j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微软雅黑"/>
                <a:ea typeface="微软雅黑"/>
              </a:rPr>
              <a:t>1–3 跳子图：前置依赖 / 关联概念 / 练习·代码·FAQ 资源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8928" y="3602736"/>
            <a:ext cx="2697480" cy="1060704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C9D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D4FC0"/>
                </a:solidFill>
                <a:latin typeface="微软雅黑"/>
                <a:ea typeface="微软雅黑"/>
              </a:rPr>
              <a:t>语义通道 · ChromaDB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7"/>
                </a:solidFill>
                <a:latin typeface="微软雅黑"/>
                <a:ea typeface="微软雅黑"/>
              </a:rPr>
              <a:t>课程语义视图 1182 条 · 2560 维向量检索讲义片段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4535424" y="2231136"/>
            <a:ext cx="603504" cy="768096"/>
          </a:xfrm>
          <a:prstGeom prst="line">
            <a:avLst/>
          </a:prstGeom>
          <a:ln w="22860">
            <a:solidFill>
              <a:srgbClr val="B6C3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535424" y="3364991"/>
            <a:ext cx="603504" cy="768096"/>
          </a:xfrm>
          <a:prstGeom prst="line">
            <a:avLst/>
          </a:prstGeom>
          <a:ln w="22860">
            <a:solidFill>
              <a:srgbClr val="B6C3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0" y="2724912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融合排序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472"/>
                </a:solidFill>
                <a:latin typeface="微软雅黑"/>
                <a:ea typeface="微软雅黑"/>
              </a:rPr>
              <a:t>图距离×语义相似×类型权重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36408" y="2231136"/>
            <a:ext cx="393192" cy="768096"/>
          </a:xfrm>
          <a:prstGeom prst="line">
            <a:avLst/>
          </a:prstGeom>
          <a:ln w="22860">
            <a:solidFill>
              <a:srgbClr val="B6C3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836408" y="3364991"/>
            <a:ext cx="393192" cy="768096"/>
          </a:xfrm>
          <a:prstGeom prst="line">
            <a:avLst/>
          </a:prstGeom>
          <a:ln w="22860">
            <a:solidFill>
              <a:srgbClr val="B6C3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ight Arrow 13"/>
          <p:cNvSpPr/>
          <p:nvPr/>
        </p:nvSpPr>
        <p:spPr>
          <a:xfrm>
            <a:off x="10040112" y="3044952"/>
            <a:ext cx="310896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442448" y="2084831"/>
            <a:ext cx="1197864" cy="2194560"/>
          </a:xfrm>
          <a:prstGeom prst="roundRect">
            <a:avLst>
              <a:gd name="adj" fmla="val 1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Evidence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Package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中心知识点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前置依赖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讲义证据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来源信息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微软雅黑"/>
                <a:ea typeface="微软雅黑"/>
              </a:rPr>
              <a:t>多跳路径摘要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82896"/>
            <a:ext cx="5419191" cy="1051560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937"/>
                </a:solidFill>
                <a:latin typeface="微软雅黑"/>
                <a:ea typeface="微软雅黑"/>
              </a:rPr>
              <a:t>宽泛查询降级策略　</a:t>
            </a: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“机器学习的应用”这类问题 → 主题匹配 + 备选建议，不硬答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4882896"/>
            <a:ext cx="5419191" cy="1051560"/>
          </a:xfrm>
          <a:prstGeom prst="roundRect">
            <a:avLst>
              <a:gd name="adj" fmla="val 7000"/>
            </a:avLst>
          </a:prstGeom>
          <a:solidFill>
            <a:srgbClr val="E7F6F0"/>
          </a:solidFill>
          <a:ln w="12700">
            <a:solidFill>
              <a:srgbClr val="CBE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9F6E"/>
                </a:solidFill>
                <a:latin typeface="微软雅黑"/>
                <a:ea typeface="微软雅黑"/>
              </a:rPr>
              <a:t>核心价值　</a:t>
            </a:r>
            <a:r>
              <a:rPr sz="1150" b="1" i="0">
                <a:solidFill>
                  <a:srgbClr val="1F2937"/>
                </a:solidFill>
                <a:latin typeface="微软雅黑"/>
                <a:ea typeface="微软雅黑"/>
              </a:rPr>
              <a:t>每条回答可追溯到依赖路径与讲义来源——机制上抑制幻觉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核心技术 ③ 三位一体的学生建模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让智能体真正“认识”每一位学生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27450" cy="3657600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700784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8 维静态画像</a:t>
            </a:r>
          </a:p>
        </p:txBody>
      </p:sp>
      <p:sp>
        <p:nvSpPr>
          <p:cNvPr id="6" name="Oval 5"/>
          <p:cNvSpPr/>
          <p:nvPr/>
        </p:nvSpPr>
        <p:spPr>
          <a:xfrm>
            <a:off x="822959" y="241401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40864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对话式构建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自然语言描述 → LLM 抽取 + 手动修正</a:t>
            </a:r>
          </a:p>
        </p:txBody>
      </p:sp>
      <p:sp>
        <p:nvSpPr>
          <p:cNvPr id="8" name="Oval 7"/>
          <p:cNvSpPr/>
          <p:nvPr/>
        </p:nvSpPr>
        <p:spPr>
          <a:xfrm>
            <a:off x="822959" y="312724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054096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8 个维度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背景/目标/基础/进度/认知风格/薄弱点/偏好/能力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38404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767328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完整度引导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缺失字段提示，逐步补全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" y="455371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480560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直接影响生成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讲解深度与资源形式随画像适配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2122" y="1463040"/>
            <a:ext cx="3527450" cy="3657600"/>
          </a:xfrm>
          <a:prstGeom prst="roundRect">
            <a:avLst>
              <a:gd name="adj" fmla="val 7000"/>
            </a:avLst>
          </a:prstGeom>
          <a:solidFill>
            <a:srgbClr val="F0EA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8154" y="1700784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行为动态画像</a:t>
            </a:r>
          </a:p>
        </p:txBody>
      </p:sp>
      <p:sp>
        <p:nvSpPr>
          <p:cNvPr id="16" name="Oval 15"/>
          <p:cNvSpPr/>
          <p:nvPr/>
        </p:nvSpPr>
        <p:spPr>
          <a:xfrm>
            <a:off x="4606442" y="2414016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7610" y="2340864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8 类一键反馈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“没看懂 / 太深了 / 例子不够”点一下即完成</a:t>
            </a:r>
          </a:p>
        </p:txBody>
      </p:sp>
      <p:sp>
        <p:nvSpPr>
          <p:cNvPr id="18" name="Oval 17"/>
          <p:cNvSpPr/>
          <p:nvPr/>
        </p:nvSpPr>
        <p:spPr>
          <a:xfrm>
            <a:off x="4606442" y="3127248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7610" y="3054096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EMA 增量更新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格式有效性 / 讲解深度 / 知识缺口</a:t>
            </a:r>
          </a:p>
        </p:txBody>
      </p:sp>
      <p:sp>
        <p:nvSpPr>
          <p:cNvPr id="20" name="Oval 19"/>
          <p:cNvSpPr/>
          <p:nvPr/>
        </p:nvSpPr>
        <p:spPr>
          <a:xfrm>
            <a:off x="4606442" y="384048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7610" y="3767328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即时生效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注入后续对话 prompt，下次回答立刻适应</a:t>
            </a:r>
          </a:p>
        </p:txBody>
      </p:sp>
      <p:sp>
        <p:nvSpPr>
          <p:cNvPr id="22" name="Oval 21"/>
          <p:cNvSpPr/>
          <p:nvPr/>
        </p:nvSpPr>
        <p:spPr>
          <a:xfrm>
            <a:off x="4606442" y="455371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7610" y="4480560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解决真问题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传统反馈问卷没人填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5604" y="1463040"/>
            <a:ext cx="3527450" cy="3657600"/>
          </a:xfrm>
          <a:prstGeom prst="roundRect">
            <a:avLst>
              <a:gd name="adj" fmla="val 7000"/>
            </a:avLst>
          </a:prstGeom>
          <a:solidFill>
            <a:srgbClr val="E7F6F0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71636" y="1700784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</a:rPr>
              <a:t>语义记忆</a:t>
            </a:r>
          </a:p>
        </p:txBody>
      </p:sp>
      <p:sp>
        <p:nvSpPr>
          <p:cNvPr id="26" name="Oval 25"/>
          <p:cNvSpPr/>
          <p:nvPr/>
        </p:nvSpPr>
        <p:spPr>
          <a:xfrm>
            <a:off x="8389924" y="2414016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1092" y="2340864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自动提取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对话结束 LLM 抽取 MemoryEntry</a:t>
            </a:r>
          </a:p>
        </p:txBody>
      </p:sp>
      <p:sp>
        <p:nvSpPr>
          <p:cNvPr id="28" name="Oval 27"/>
          <p:cNvSpPr/>
          <p:nvPr/>
        </p:nvSpPr>
        <p:spPr>
          <a:xfrm>
            <a:off x="8389924" y="3127248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1092" y="3054096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向量存储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ChromaDB 持久化</a:t>
            </a:r>
          </a:p>
        </p:txBody>
      </p:sp>
      <p:sp>
        <p:nvSpPr>
          <p:cNvPr id="30" name="Oval 29"/>
          <p:cNvSpPr/>
          <p:nvPr/>
        </p:nvSpPr>
        <p:spPr>
          <a:xfrm>
            <a:off x="8389924" y="3840480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1092" y="3767328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混合检索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向量相似 + 元数据过滤</a:t>
            </a:r>
          </a:p>
        </p:txBody>
      </p:sp>
      <p:sp>
        <p:nvSpPr>
          <p:cNvPr id="32" name="Oval 31"/>
          <p:cNvSpPr/>
          <p:nvPr/>
        </p:nvSpPr>
        <p:spPr>
          <a:xfrm>
            <a:off x="8389924" y="4553712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1092" y="4480560"/>
            <a:ext cx="281421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跨会话连续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换个会话，系统仍记得你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358384"/>
            <a:ext cx="11094415" cy="512064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★  </a:t>
            </a: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全链路证据链：</a:t>
            </a: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node_mastery 掌握度更新记录来源（哪次练习、哪道题）——个性化判断全程可查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核心技术 ④ 6 类资源生成 + 自修复闭环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把不可控的 LLM 输出，变成工程上可靠的交付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681429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937"/>
                </a:solidFill>
                <a:latin typeface="微软雅黑"/>
                <a:ea typeface="微软雅黑"/>
              </a:rPr>
              <a:t>讲解文档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1591056"/>
            <a:ext cx="82296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31237" y="1463040"/>
            <a:ext cx="1681429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937"/>
                </a:solidFill>
                <a:latin typeface="微软雅黑"/>
                <a:ea typeface="微软雅黑"/>
              </a:rPr>
              <a:t>思维导图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77541" y="1591056"/>
            <a:ext cx="82296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3834" y="1463040"/>
            <a:ext cx="1681429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937"/>
                </a:solidFill>
                <a:latin typeface="微软雅黑"/>
                <a:ea typeface="微软雅黑"/>
              </a:rPr>
              <a:t>练习题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1591056"/>
            <a:ext cx="82296" cy="45720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6431" y="1463040"/>
            <a:ext cx="1681429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937"/>
                </a:solidFill>
                <a:latin typeface="微软雅黑"/>
                <a:ea typeface="微软雅黑"/>
              </a:rPr>
              <a:t>视频脚本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2735" y="1591056"/>
            <a:ext cx="82296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79028" y="1463040"/>
            <a:ext cx="1681429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937"/>
                </a:solidFill>
                <a:latin typeface="微软雅黑"/>
                <a:ea typeface="微软雅黑"/>
              </a:rPr>
              <a:t>代码案例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5332" y="1591056"/>
            <a:ext cx="82296" cy="457200"/>
          </a:xfrm>
          <a:prstGeom prst="roundRect">
            <a:avLst>
              <a:gd name="adj" fmla="val 50000"/>
            </a:avLst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1626" y="1463040"/>
            <a:ext cx="1681429" cy="7132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937"/>
                </a:solidFill>
                <a:latin typeface="微软雅黑"/>
                <a:ea typeface="微软雅黑"/>
              </a:rPr>
              <a:t>教学图片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07930" y="1591056"/>
            <a:ext cx="82296" cy="457200"/>
          </a:xfrm>
          <a:prstGeom prst="roundRect">
            <a:avLst>
              <a:gd name="adj" fmla="val 50000"/>
            </a:avLst>
          </a:prstGeom>
          <a:solidFill>
            <a:srgbClr val="E15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26771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472"/>
                </a:solidFill>
                <a:latin typeface="微软雅黑"/>
                <a:ea typeface="微软雅黑"/>
              </a:rPr>
              <a:t>5 个 LangChain 资源智能体并发生成 + 讯飞 HiDream 文生图通道 · markmap 可交互导图 · 全部结果落库知识中心（可回看、可编辑）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97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自修复链路（每类资源统一执行）</a:t>
            </a:r>
          </a:p>
        </p:txBody>
      </p:sp>
      <p:sp>
        <p:nvSpPr>
          <p:cNvPr id="18" name="Chevron 17"/>
          <p:cNvSpPr/>
          <p:nvPr/>
        </p:nvSpPr>
        <p:spPr>
          <a:xfrm>
            <a:off x="548640" y="3127248"/>
            <a:ext cx="1963369" cy="621792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生成</a:t>
            </a:r>
          </a:p>
        </p:txBody>
      </p:sp>
      <p:sp>
        <p:nvSpPr>
          <p:cNvPr id="19" name="Chevron 18"/>
          <p:cNvSpPr/>
          <p:nvPr/>
        </p:nvSpPr>
        <p:spPr>
          <a:xfrm>
            <a:off x="2374849" y="3127248"/>
            <a:ext cx="1963369" cy="621792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按类型校验</a:t>
            </a:r>
          </a:p>
        </p:txBody>
      </p:sp>
      <p:sp>
        <p:nvSpPr>
          <p:cNvPr id="20" name="Chevron 19"/>
          <p:cNvSpPr/>
          <p:nvPr/>
        </p:nvSpPr>
        <p:spPr>
          <a:xfrm>
            <a:off x="4201058" y="3127248"/>
            <a:ext cx="1963369" cy="621792"/>
          </a:xfrm>
          <a:prstGeom prst="chevron">
            <a:avLst>
              <a:gd name="adj" fmla="val 5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失败原因回喂 LLM 修复</a:t>
            </a:r>
          </a:p>
        </p:txBody>
      </p:sp>
      <p:sp>
        <p:nvSpPr>
          <p:cNvPr id="21" name="Chevron 20"/>
          <p:cNvSpPr/>
          <p:nvPr/>
        </p:nvSpPr>
        <p:spPr>
          <a:xfrm>
            <a:off x="6027267" y="3127248"/>
            <a:ext cx="1963369" cy="621792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再校验</a:t>
            </a:r>
          </a:p>
        </p:txBody>
      </p:sp>
      <p:sp>
        <p:nvSpPr>
          <p:cNvPr id="22" name="Chevron 21"/>
          <p:cNvSpPr/>
          <p:nvPr/>
        </p:nvSpPr>
        <p:spPr>
          <a:xfrm>
            <a:off x="7853476" y="3127248"/>
            <a:ext cx="1963369" cy="621792"/>
          </a:xfrm>
          <a:prstGeom prst="chevron">
            <a:avLst>
              <a:gd name="adj" fmla="val 55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仍失败：标注原因</a:t>
            </a:r>
          </a:p>
        </p:txBody>
      </p:sp>
      <p:sp>
        <p:nvSpPr>
          <p:cNvPr id="23" name="Chevron 22"/>
          <p:cNvSpPr/>
          <p:nvPr/>
        </p:nvSpPr>
        <p:spPr>
          <a:xfrm>
            <a:off x="9679686" y="3127248"/>
            <a:ext cx="1963369" cy="621792"/>
          </a:xfrm>
          <a:prstGeom prst="chevron">
            <a:avLst>
              <a:gd name="adj" fmla="val 5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支持单独重试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23360"/>
            <a:ext cx="5419191" cy="120700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2937"/>
                </a:solidFill>
                <a:latin typeface="微软雅黑"/>
                <a:ea typeface="微软雅黑"/>
              </a:rPr>
              <a:t>校验标准按类型定义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讲解文档正文 ≥200 字；练习题每题必须题干+选项+答案；LLM 返回非严格 JSON 时 manual_json 手动兜底解析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3863" y="4023360"/>
            <a:ext cx="5419191" cy="120700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1F2937"/>
                </a:solidFill>
                <a:latin typeface="微软雅黑"/>
                <a:ea typeface="微软雅黑"/>
              </a:rPr>
              <a:t>失败不隐藏、部分成功可交付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图片生成失败不影响其余 5 类资源；失败项明确标注原因，可对单类资源独立重试——诚实降级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68112"/>
            <a:ext cx="11094415" cy="512064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★  </a:t>
            </a: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这套“生成 → 校验 → 修复 → 再校验”链路，是多智能体系统从 Demo 走向可用的关键工程创新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学习路径规划 × 练习评估闭环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练习结果实时改变路径推荐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419191" cy="4160520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C9D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700784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学习路径规划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30428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FC0"/>
                </a:solidFill>
                <a:latin typeface="微软雅黑"/>
                <a:ea typeface="微软雅黑"/>
              </a:rPr>
              <a:t>薄弱补强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1952" y="230428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FC0"/>
                </a:solidFill>
                <a:latin typeface="微软雅黑"/>
                <a:ea typeface="微软雅黑"/>
              </a:rPr>
              <a:t>前置补缺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230428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FC0"/>
                </a:solidFill>
                <a:latin typeface="微软雅黑"/>
                <a:ea typeface="微软雅黑"/>
              </a:rPr>
              <a:t>目标相关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96512" y="230428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FC0"/>
                </a:solidFill>
                <a:latin typeface="微软雅黑"/>
                <a:ea typeface="微软雅黑"/>
              </a:rPr>
              <a:t>遗忘复习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3792" y="230428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D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D4FC0"/>
                </a:solidFill>
                <a:latin typeface="微软雅黑"/>
                <a:ea typeface="微软雅黑"/>
              </a:rPr>
              <a:t>错题关联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3008376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7" y="2907792"/>
            <a:ext cx="4687671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多源候选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  5 种推荐类型汇聚候选知识点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483864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3383280"/>
            <a:ext cx="4687671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Kahn 拓扑排序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  保证学习顺序满足前置依赖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3959352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7" y="3858768"/>
            <a:ext cx="4687671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逐节点可解释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  每个推荐返回 reason / type / score /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553712"/>
            <a:ext cx="487055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B6472"/>
                </a:solidFill>
                <a:latin typeface="微软雅黑"/>
                <a:ea typeface="微软雅黑"/>
              </a:rPr>
              <a:t>路径示例</a:t>
            </a:r>
          </a:p>
        </p:txBody>
      </p:sp>
      <p:sp>
        <p:nvSpPr>
          <p:cNvPr id="18" name="Chevron 17"/>
          <p:cNvSpPr/>
          <p:nvPr/>
        </p:nvSpPr>
        <p:spPr>
          <a:xfrm>
            <a:off x="841247" y="4892040"/>
            <a:ext cx="1054577" cy="457200"/>
          </a:xfrm>
          <a:prstGeom prst="chevron">
            <a:avLst>
              <a:gd name="adj" fmla="val 55000"/>
            </a:avLst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线性回归</a:t>
            </a:r>
          </a:p>
        </p:txBody>
      </p:sp>
      <p:sp>
        <p:nvSpPr>
          <p:cNvPr id="19" name="Chevron 18"/>
          <p:cNvSpPr/>
          <p:nvPr/>
        </p:nvSpPr>
        <p:spPr>
          <a:xfrm>
            <a:off x="1786097" y="4892040"/>
            <a:ext cx="1054577" cy="457200"/>
          </a:xfrm>
          <a:prstGeom prst="chevron">
            <a:avLst>
              <a:gd name="adj" fmla="val 55000"/>
            </a:avLst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损失函数</a:t>
            </a:r>
          </a:p>
        </p:txBody>
      </p:sp>
      <p:sp>
        <p:nvSpPr>
          <p:cNvPr id="20" name="Chevron 19"/>
          <p:cNvSpPr/>
          <p:nvPr/>
        </p:nvSpPr>
        <p:spPr>
          <a:xfrm>
            <a:off x="2730947" y="4892040"/>
            <a:ext cx="1054577" cy="457200"/>
          </a:xfrm>
          <a:prstGeom prst="chevron">
            <a:avLst>
              <a:gd name="adj" fmla="val 55000"/>
            </a:avLst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梯度下降</a:t>
            </a:r>
          </a:p>
        </p:txBody>
      </p:sp>
      <p:sp>
        <p:nvSpPr>
          <p:cNvPr id="21" name="Chevron 20"/>
          <p:cNvSpPr/>
          <p:nvPr/>
        </p:nvSpPr>
        <p:spPr>
          <a:xfrm>
            <a:off x="3675796" y="4892040"/>
            <a:ext cx="1054577" cy="457200"/>
          </a:xfrm>
          <a:prstGeom prst="chevron">
            <a:avLst>
              <a:gd name="adj" fmla="val 55000"/>
            </a:avLst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多层神经网络</a:t>
            </a:r>
          </a:p>
        </p:txBody>
      </p:sp>
      <p:sp>
        <p:nvSpPr>
          <p:cNvPr id="22" name="Chevron 21"/>
          <p:cNvSpPr/>
          <p:nvPr/>
        </p:nvSpPr>
        <p:spPr>
          <a:xfrm>
            <a:off x="4620646" y="4892040"/>
            <a:ext cx="1054577" cy="457200"/>
          </a:xfrm>
          <a:prstGeom prst="chevron">
            <a:avLst>
              <a:gd name="adj" fmla="val 55000"/>
            </a:avLst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微软雅黑"/>
                <a:ea typeface="微软雅黑"/>
              </a:rPr>
              <a:t>反向传播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863" y="1463040"/>
            <a:ext cx="5419191" cy="4160520"/>
          </a:xfrm>
          <a:prstGeom prst="roundRect">
            <a:avLst>
              <a:gd name="adj" fmla="val 7000"/>
            </a:avLst>
          </a:prstGeom>
          <a:solidFill>
            <a:srgbClr val="F0EAFC"/>
          </a:solidFill>
          <a:ln w="12700">
            <a:solidFill>
              <a:srgbClr val="D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79895" y="1700784"/>
            <a:ext cx="1737360" cy="43891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练习评估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9895" y="2304288"/>
            <a:ext cx="81838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3AED"/>
                </a:solidFill>
                <a:latin typeface="微软雅黑"/>
                <a:ea typeface="微软雅黑"/>
              </a:rPr>
              <a:t>选择题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8011" y="2304288"/>
            <a:ext cx="81838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3AED"/>
                </a:solidFill>
                <a:latin typeface="微软雅黑"/>
                <a:ea typeface="微软雅黑"/>
              </a:rPr>
              <a:t>简答题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6127" y="2304288"/>
            <a:ext cx="81838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3AED"/>
                </a:solidFill>
                <a:latin typeface="微软雅黑"/>
                <a:ea typeface="微软雅黑"/>
              </a:rPr>
              <a:t>编程题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64243" y="2304288"/>
            <a:ext cx="9875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3AED"/>
                </a:solidFill>
                <a:latin typeface="微软雅黑"/>
                <a:ea typeface="微软雅黑"/>
              </a:rPr>
              <a:t>案例分析</a:t>
            </a:r>
          </a:p>
        </p:txBody>
      </p:sp>
      <p:sp>
        <p:nvSpPr>
          <p:cNvPr id="29" name="Oval 28"/>
          <p:cNvSpPr/>
          <p:nvPr/>
        </p:nvSpPr>
        <p:spPr>
          <a:xfrm>
            <a:off x="6516471" y="3008376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9351" y="2907792"/>
            <a:ext cx="4687671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后端评分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  选择题规则匹配 · 简答/案例 LLM rubric · 编程题结构化评分（AST 语法检查）</a:t>
            </a:r>
          </a:p>
        </p:txBody>
      </p:sp>
      <p:sp>
        <p:nvSpPr>
          <p:cNvPr id="31" name="Oval 30"/>
          <p:cNvSpPr/>
          <p:nvPr/>
        </p:nvSpPr>
        <p:spPr>
          <a:xfrm>
            <a:off x="6516471" y="3611880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9351" y="3511296"/>
            <a:ext cx="4687671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错题本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  按错误类型聚合：概念混淆 / 计算错误 / 记忆遗漏 / 应用失误</a:t>
            </a:r>
          </a:p>
        </p:txBody>
      </p:sp>
      <p:sp>
        <p:nvSpPr>
          <p:cNvPr id="33" name="Oval 32"/>
          <p:cNvSpPr/>
          <p:nvPr/>
        </p:nvSpPr>
        <p:spPr>
          <a:xfrm>
            <a:off x="6516471" y="4215384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9351" y="4114800"/>
            <a:ext cx="4687671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画像回写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  成绩按知识点更新 node_mastery，附证据链</a:t>
            </a:r>
          </a:p>
        </p:txBody>
      </p:sp>
      <p:sp>
        <p:nvSpPr>
          <p:cNvPr id="35" name="Oval 34"/>
          <p:cNvSpPr/>
          <p:nvPr/>
        </p:nvSpPr>
        <p:spPr>
          <a:xfrm>
            <a:off x="6516471" y="4818888"/>
            <a:ext cx="82296" cy="822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9351" y="4718304"/>
            <a:ext cx="4687671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4 种练习模式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  + 复习推荐，答错给针对性反馈而非只说“错误”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760720"/>
            <a:ext cx="11094415" cy="475488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★  </a:t>
            </a: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练 → 诊 → 荐 实时联动：</a:t>
            </a: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做完一轮练习，薄弱点与学习路径立即更新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可解释与用户体验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过程可见 · 依据可查 · 诚实降级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3527450" cy="193852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过程可见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AgentTracePanel 实时渲染 17 节点执行 + SSE 打字机流式——答案未出，学生已看到“正在检索证据/评估质量”，消除黑盒焦虑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1719072"/>
            <a:ext cx="502920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2122" y="1481328"/>
            <a:ext cx="3527450" cy="193852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依据可查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EvidencePanel 展示多跳依赖路径与讲义来源——“AI 说的对不对”给学生核查入口，建立信任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69866" y="1719072"/>
            <a:ext cx="502920" cy="822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15604" y="1481328"/>
            <a:ext cx="3527450" cy="193852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诚实降级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LLM 不可用明确返回 unavailable，不伪装智能体；宽泛问题给备选建议不硬答；宁可明说，不给错误答案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3348" y="1719072"/>
            <a:ext cx="502920" cy="82296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3527450" cy="193852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富媒体渲染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KaTeX 公式 / 代码高亮 / markmap 可交互导图 / Mermaid 流程图——机器学习内容公式·代码·图三要素完整呈现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" y="3803904"/>
            <a:ext cx="502920" cy="82296"/>
          </a:xfrm>
          <a:prstGeom prst="roundRect">
            <a:avLst>
              <a:gd name="adj" fmla="val 50000"/>
            </a:avLst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2122" y="3566160"/>
            <a:ext cx="3527450" cy="193852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零负担反馈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8 个一键反馈标签，点一下即完成且下次回答立刻适应——解决“反馈问卷没人填”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9866" y="3803904"/>
            <a:ext cx="502920" cy="822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15604" y="3566160"/>
            <a:ext cx="3527450" cy="193852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80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动机维持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日历热力图 · 成长时间轴 · 周报 · 艾宾浩斯遗忘预警——碎片化学习也有成就感与复习节奏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3348" y="3803904"/>
            <a:ext cx="502920" cy="82296"/>
          </a:xfrm>
          <a:prstGeom prst="roundRect">
            <a:avLst>
              <a:gd name="adj" fmla="val 50000"/>
            </a:avLst>
          </a:prstGeom>
          <a:solidFill>
            <a:srgbClr val="E15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5650992"/>
            <a:ext cx="11094415" cy="512064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★  </a:t>
            </a: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界面设计三原则：</a:t>
            </a: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不只给结果——让学生看到智能体如何工作、为什么这样回答、下一步去哪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系统规模一览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数据集围绕《机器学习》课程知识体系人工建设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72768"/>
            <a:ext cx="2595295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</a:pPr>
            <a:r>
              <a:rPr sz="3000" b="1" i="0">
                <a:solidFill>
                  <a:srgbClr val="2563EB"/>
                </a:solidFill>
                <a:latin typeface="微软雅黑"/>
                <a:ea typeface="微软雅黑"/>
              </a:rPr>
              <a:t>17</a:t>
            </a:r>
            <a:r>
              <a:rPr sz="1200" b="1" i="0">
                <a:solidFill>
                  <a:srgbClr val="5B6472"/>
                </a:solidFill>
                <a:latin typeface="微软雅黑"/>
                <a:ea typeface="微软雅黑"/>
              </a:rPr>
              <a:t>  节点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微软雅黑"/>
                <a:ea typeface="微软雅黑"/>
              </a:rPr>
              <a:t>LangGraph 编排 StateGraph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737360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1679" y="1572768"/>
            <a:ext cx="2595295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</a:pPr>
            <a:r>
              <a:rPr sz="2300" b="1" i="0">
                <a:solidFill>
                  <a:srgbClr val="7C3AED"/>
                </a:solidFill>
                <a:latin typeface="微软雅黑"/>
                <a:ea typeface="微软雅黑"/>
              </a:rPr>
              <a:t>370 / 1067</a:t>
            </a:r>
            <a:r>
              <a:rPr sz="1200" b="1" i="0">
                <a:solidFill>
                  <a:srgbClr val="5B6472"/>
                </a:solidFill>
                <a:latin typeface="微软雅黑"/>
                <a:ea typeface="微软雅黑"/>
              </a:rPr>
              <a:t> 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微软雅黑"/>
                <a:ea typeface="微软雅黑"/>
              </a:rPr>
              <a:t>知识图谱节点 / 关系（Neo4j）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6271" y="1737360"/>
            <a:ext cx="457200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4719" y="1572768"/>
            <a:ext cx="2595295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</a:pPr>
            <a:r>
              <a:rPr sz="3000" b="1" i="0">
                <a:solidFill>
                  <a:srgbClr val="1D4FC0"/>
                </a:solidFill>
                <a:latin typeface="微软雅黑"/>
                <a:ea typeface="微软雅黑"/>
              </a:rPr>
              <a:t>1182</a:t>
            </a:r>
            <a:r>
              <a:rPr sz="1200" b="1" i="0">
                <a:solidFill>
                  <a:srgbClr val="5B6472"/>
                </a:solidFill>
                <a:latin typeface="微软雅黑"/>
                <a:ea typeface="微软雅黑"/>
              </a:rPr>
              <a:t>  条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微软雅黑"/>
                <a:ea typeface="微软雅黑"/>
              </a:rPr>
              <a:t>课程语义视图（2560 维向量）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9311" y="1737360"/>
            <a:ext cx="457200" cy="64008"/>
          </a:xfrm>
          <a:prstGeom prst="roundRect">
            <a:avLst>
              <a:gd name="adj" fmla="val 50000"/>
            </a:avLst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47759" y="1572768"/>
            <a:ext cx="2595295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</a:pPr>
            <a:r>
              <a:rPr sz="3000" b="1" i="0">
                <a:solidFill>
                  <a:srgbClr val="0E9F6E"/>
                </a:solidFill>
                <a:latin typeface="微软雅黑"/>
                <a:ea typeface="微软雅黑"/>
              </a:rPr>
              <a:t>52</a:t>
            </a:r>
            <a:r>
              <a:rPr sz="1200" b="1" i="0">
                <a:solidFill>
                  <a:srgbClr val="5B6472"/>
                </a:solidFill>
                <a:latin typeface="微软雅黑"/>
                <a:ea typeface="微软雅黑"/>
              </a:rPr>
              <a:t>  个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微软雅黑"/>
                <a:ea typeface="微软雅黑"/>
              </a:rPr>
              <a:t>API 端点（REST + SSE）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12351" y="1737360"/>
            <a:ext cx="457200" cy="6400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493008"/>
            <a:ext cx="2595295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</a:pPr>
            <a:r>
              <a:rPr sz="2300" b="1" i="0">
                <a:solidFill>
                  <a:srgbClr val="2563EB"/>
                </a:solidFill>
                <a:latin typeface="微软雅黑"/>
                <a:ea typeface="微软雅黑"/>
              </a:rPr>
              <a:t>14 / 16</a:t>
            </a:r>
            <a:r>
              <a:rPr sz="1200" b="1" i="0">
                <a:solidFill>
                  <a:srgbClr val="5B6472"/>
                </a:solidFill>
                <a:latin typeface="微软雅黑"/>
                <a:ea typeface="微软雅黑"/>
              </a:rPr>
              <a:t> 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微软雅黑"/>
                <a:ea typeface="微软雅黑"/>
              </a:rPr>
              <a:t>前端页面 / 路由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657600"/>
            <a:ext cx="45720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1679" y="3493008"/>
            <a:ext cx="2595295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</a:pPr>
            <a:r>
              <a:rPr sz="3000" b="1" i="0">
                <a:solidFill>
                  <a:srgbClr val="F59E0B"/>
                </a:solidFill>
                <a:latin typeface="微软雅黑"/>
                <a:ea typeface="微软雅黑"/>
              </a:rPr>
              <a:t>6</a:t>
            </a:r>
            <a:r>
              <a:rPr sz="1200" b="1" i="0">
                <a:solidFill>
                  <a:srgbClr val="5B6472"/>
                </a:solidFill>
                <a:latin typeface="微软雅黑"/>
                <a:ea typeface="微软雅黑"/>
              </a:rPr>
              <a:t>  类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微软雅黑"/>
                <a:ea typeface="微软雅黑"/>
              </a:rPr>
              <a:t>一键生成学习资源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6271" y="3657600"/>
            <a:ext cx="457200" cy="640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4719" y="3493008"/>
            <a:ext cx="2595295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</a:pPr>
            <a:r>
              <a:rPr sz="2300" b="1" i="0">
                <a:solidFill>
                  <a:srgbClr val="7C3AED"/>
                </a:solidFill>
                <a:latin typeface="微软雅黑"/>
                <a:ea typeface="微软雅黑"/>
              </a:rPr>
              <a:t>54+161+24</a:t>
            </a:r>
            <a:r>
              <a:rPr sz="1200" b="1" i="0">
                <a:solidFill>
                  <a:srgbClr val="5B6472"/>
                </a:solidFill>
                <a:latin typeface="微软雅黑"/>
                <a:ea typeface="微软雅黑"/>
              </a:rPr>
              <a:t> 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微软雅黑"/>
                <a:ea typeface="微软雅黑"/>
              </a:rPr>
              <a:t>练习题 · FAQ · 代码案例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9311" y="3657600"/>
            <a:ext cx="457200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47759" y="3493008"/>
            <a:ext cx="2595295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600"/>
              </a:spcBef>
              <a:spcAft>
                <a:spcPts val="200"/>
              </a:spcAft>
            </a:pPr>
            <a:r>
              <a:rPr sz="2300" b="1" i="0">
                <a:solidFill>
                  <a:srgbClr val="0E9F6E"/>
                </a:solidFill>
                <a:latin typeface="微软雅黑"/>
                <a:ea typeface="微软雅黑"/>
              </a:rPr>
              <a:t>11 / 50</a:t>
            </a:r>
            <a:r>
              <a:rPr sz="1200" b="1" i="0">
                <a:solidFill>
                  <a:srgbClr val="5B6472"/>
                </a:solidFill>
                <a:latin typeface="微软雅黑"/>
                <a:ea typeface="微软雅黑"/>
              </a:rPr>
              <a:t>  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7"/>
                </a:solidFill>
                <a:latin typeface="微软雅黑"/>
                <a:ea typeface="微软雅黑"/>
              </a:rPr>
              <a:t>章节讲义 / 核心知识点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12351" y="3657600"/>
            <a:ext cx="457200" cy="6400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5596128"/>
            <a:ext cx="11094415" cy="512064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★  </a:t>
            </a:r>
            <a:r>
              <a:rPr sz="1250" b="0" i="0">
                <a:solidFill>
                  <a:srgbClr val="FFFFFF"/>
                </a:solidFill>
                <a:latin typeface="微软雅黑"/>
                <a:ea typeface="微软雅黑"/>
              </a:rPr>
              <a:t>全部课程数据（讲义 / 图谱 / 题库 / FAQ / 来源）由团队围绕课程知识体系人工整理，</a:t>
            </a:r>
            <a:r>
              <a:rPr sz="1250" b="1" i="0">
                <a:solidFill>
                  <a:srgbClr val="F59E0B"/>
                </a:solidFill>
                <a:latin typeface="微软雅黑"/>
                <a:ea typeface="微软雅黑"/>
              </a:rPr>
              <a:t>导入脚本可重复执行、来源可登记追溯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7 分钟演示主线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一位学生的完整学习闭环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17904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700784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737360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一键登录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31136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演示账号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10246" y="2048255"/>
            <a:ext cx="182880" cy="219456"/>
          </a:xfrm>
          <a:prstGeom prst="right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11414" y="1517904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4294" y="1700784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6358" y="1737360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画像对话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2582" y="2231136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自然语言建 8 维画像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73020" y="2048255"/>
            <a:ext cx="182880" cy="219456"/>
          </a:xfrm>
          <a:prstGeom prst="right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188" y="1517904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7068" y="1700784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9132" y="1737360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学习助手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5356" y="2231136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17 节点流式 + 证据面板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35794" y="2048255"/>
            <a:ext cx="182880" cy="219456"/>
          </a:xfrm>
          <a:prstGeom prst="right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36962" y="1517904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19842" y="1700784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1906" y="1737360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知识图谱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8130" y="2231136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搜索 / 子图 / 前置高亮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398568" y="2048255"/>
            <a:ext cx="182880" cy="219456"/>
          </a:xfrm>
          <a:prstGeom prst="right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99736" y="1517904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2616" y="1700784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94680" y="1737360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资源生成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0904" y="2231136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6 类资源并发生成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999232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318211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43584" y="3218688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练习测试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712464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做题 + 即时反馈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2610246" y="3529584"/>
            <a:ext cx="182880" cy="219456"/>
          </a:xfrm>
          <a:prstGeom prst="right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811414" y="2999232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94294" y="318211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06358" y="3218688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学习路径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2582" y="3712464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拓扑排序推荐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4873020" y="3529584"/>
            <a:ext cx="182880" cy="219456"/>
          </a:xfrm>
          <a:prstGeom prst="right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074188" y="2999232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57068" y="318211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9132" y="3218688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反馈闭环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75356" y="3712464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打标签→行为画像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7135794" y="3529584"/>
            <a:ext cx="182880" cy="219456"/>
          </a:xfrm>
          <a:prstGeom prst="right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36962" y="2999232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519842" y="318211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31906" y="3218688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学习成长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8130" y="3712464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热力图 + 遗忘预警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398568" y="3529584"/>
            <a:ext cx="182880" cy="219456"/>
          </a:xfrm>
          <a:prstGeom prst="rightArrow">
            <a:avLst/>
          </a:prstGeom>
          <a:solidFill>
            <a:srgbClr val="B6C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599736" y="2999232"/>
            <a:ext cx="2043318" cy="1298448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82616" y="3182112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94680" y="3218688"/>
            <a:ext cx="122035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1F2937"/>
                </a:solidFill>
                <a:latin typeface="微软雅黑"/>
                <a:ea typeface="微软雅黑"/>
              </a:rPr>
              <a:t>评估报告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00904" y="3712464"/>
            <a:ext cx="167755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掌握度雷达图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4681728"/>
            <a:ext cx="11094415" cy="1280160"/>
          </a:xfrm>
          <a:prstGeom prst="roundRect">
            <a:avLst>
              <a:gd name="adj" fmla="val 7000"/>
            </a:avLst>
          </a:prstGeom>
          <a:solidFill>
            <a:srgbClr val="F0EAFC"/>
          </a:solidFill>
          <a:ln w="12700">
            <a:solidFill>
              <a:srgbClr val="DFD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38100" bIns="3810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7C3AED"/>
                </a:solidFill>
                <a:latin typeface="微软雅黑"/>
                <a:ea typeface="微软雅黑"/>
              </a:rPr>
              <a:t>演示学生：</a:t>
            </a:r>
            <a:r>
              <a:rPr sz="1250" b="0" i="0">
                <a:solidFill>
                  <a:srgbClr val="1F2937"/>
                </a:solidFill>
                <a:latin typeface="微软雅黑"/>
                <a:ea typeface="微软雅黑"/>
              </a:rPr>
              <a:t>计算机大二 · 会 Python/高数 · ML 基础薄弱 · 偏好图解与代码案例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C3AED"/>
                </a:solidFill>
                <a:latin typeface="微软雅黑"/>
                <a:ea typeface="微软雅黑"/>
              </a:rPr>
              <a:t>演示问题：</a:t>
            </a: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“神经网络训练时那个从后往前算梯度的过程是什么？”</a:t>
            </a:r>
            <a:r>
              <a:rPr sz="1200" b="0" i="0">
                <a:solidFill>
                  <a:srgbClr val="5B6472"/>
                </a:solidFill>
                <a:latin typeface="微软雅黑"/>
                <a:ea typeface="微软雅黑"/>
              </a:rPr>
              <a:t>　→ 系统识别为「反向传播」，自动补齐梯度下降、多层神经网络等前置依赖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创新点总结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11094415" cy="804672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82496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91056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图谱驱动的可解释学习智能体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591056"/>
            <a:ext cx="633953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GraphRAG 深度融入教学场景：回答可追溯依赖路径与讲义来源，机制性抑制幻觉——通用聊天 AI 无法提供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95728"/>
            <a:ext cx="11094415" cy="804672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596896"/>
            <a:ext cx="402336" cy="40233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05456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“生成-校验-自修复”工程化闭环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505456"/>
            <a:ext cx="633953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6 类资源统一链路，把概率性的 LLM 输出变成工程可靠的交付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10128"/>
            <a:ext cx="11094415" cy="804672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511296"/>
            <a:ext cx="402336" cy="402336"/>
          </a:xfrm>
          <a:prstGeom prst="ellipse">
            <a:avLst/>
          </a:prstGeom>
          <a:solidFill>
            <a:srgbClr val="1D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19856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编排图内嵌质量决策节点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419856"/>
            <a:ext cx="633953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证据评估 / 资源自反思是 LangGraph 一等节点——质量控制是智能体流程本身，而非外挂兜底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24528"/>
            <a:ext cx="11094415" cy="804672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9808" y="4425696"/>
            <a:ext cx="402336" cy="402336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34256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三闭环个性化模型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334256"/>
            <a:ext cx="633953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学习闭环 × 反馈闭环 × 记忆闭环叠加，“越用越懂你”且每次适应对学生可见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38928"/>
            <a:ext cx="11094415" cy="804672"/>
          </a:xfrm>
          <a:prstGeom prst="roundRect">
            <a:avLst>
              <a:gd name="adj" fmla="val 7000"/>
            </a:avLst>
          </a:prstGeom>
          <a:solidFill>
            <a:srgbClr val="F2F5FA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5340096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248656"/>
            <a:ext cx="3703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2937"/>
                </a:solidFill>
                <a:latin typeface="微软雅黑"/>
                <a:ea typeface="微软雅黑"/>
              </a:rPr>
              <a:t>全链路证据链 + 可审计 AI 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248656"/>
            <a:ext cx="6339535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472"/>
                </a:solidFill>
                <a:latin typeface="微软雅黑"/>
                <a:ea typeface="微软雅黑"/>
              </a:rPr>
              <a:t>掌握度/推荐逐项带来源；Spec 驱动 + AI 辅助 + 人工验收，全程留痕可核查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75488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429768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2600" b="1" i="0">
                <a:solidFill>
                  <a:srgbClr val="1F2937"/>
                </a:solidFill>
                <a:latin typeface="微软雅黑"/>
                <a:ea typeface="微软雅黑"/>
              </a:rPr>
              <a:t>工程质量保障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472"/>
                </a:solidFill>
                <a:latin typeface="微软雅黑"/>
                <a:ea typeface="微软雅黑"/>
              </a:rPr>
              <a:t>设计 → 开发 → 测试 → 部署全流程可核查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27450" cy="3977639"/>
          </a:xfrm>
          <a:prstGeom prst="roundRect">
            <a:avLst>
              <a:gd name="adj" fmla="val 7000"/>
            </a:avLst>
          </a:prstGeom>
          <a:solidFill>
            <a:srgbClr val="E8EEFB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700784"/>
            <a:ext cx="3015386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Spec 驱动 + AI 辅助开发</a:t>
            </a:r>
          </a:p>
        </p:txBody>
      </p:sp>
      <p:sp>
        <p:nvSpPr>
          <p:cNvPr id="6" name="Oval 5"/>
          <p:cNvSpPr/>
          <p:nvPr/>
        </p:nvSpPr>
        <p:spPr>
          <a:xfrm>
            <a:off x="822959" y="245059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77440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规格先行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spec.md / tasks.md / checklist.md 三件套</a:t>
            </a:r>
          </a:p>
        </p:txBody>
      </p:sp>
      <p:sp>
        <p:nvSpPr>
          <p:cNvPr id="8" name="Oval 7"/>
          <p:cNvSpPr/>
          <p:nvPr/>
        </p:nvSpPr>
        <p:spPr>
          <a:xfrm>
            <a:off x="822959" y="32186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145536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AI 受控生成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SKILL.md 工程约束下按 Spec 逐任务实现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3986784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913632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人工验收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逐项 review diff + checklist 打勾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" y="47548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681728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全程留痕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.trae/ 目录随源码提交，可审计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2122" y="1463040"/>
            <a:ext cx="3527450" cy="3977639"/>
          </a:xfrm>
          <a:prstGeom prst="roundRect">
            <a:avLst>
              <a:gd name="adj" fmla="val 7000"/>
            </a:avLst>
          </a:prstGeom>
          <a:solidFill>
            <a:srgbClr val="F0EAFC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8154" y="1700784"/>
            <a:ext cx="3015386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四层测试体系</a:t>
            </a:r>
          </a:p>
        </p:txBody>
      </p:sp>
      <p:sp>
        <p:nvSpPr>
          <p:cNvPr id="16" name="Oval 15"/>
          <p:cNvSpPr/>
          <p:nvPr/>
        </p:nvSpPr>
        <p:spPr>
          <a:xfrm>
            <a:off x="4606442" y="2450592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7610" y="2377440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自动化冒烟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8 用例覆盖核心闭环（tests/test_e2e_smoke.py）</a:t>
            </a:r>
          </a:p>
        </p:txBody>
      </p:sp>
      <p:sp>
        <p:nvSpPr>
          <p:cNvPr id="18" name="Oval 17"/>
          <p:cNvSpPr/>
          <p:nvPr/>
        </p:nvSpPr>
        <p:spPr>
          <a:xfrm>
            <a:off x="4606442" y="3218688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7610" y="3145536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接口测试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52 个端点逐一验证（Swagger）</a:t>
            </a:r>
          </a:p>
        </p:txBody>
      </p:sp>
      <p:sp>
        <p:nvSpPr>
          <p:cNvPr id="20" name="Oval 19"/>
          <p:cNvSpPr/>
          <p:nvPr/>
        </p:nvSpPr>
        <p:spPr>
          <a:xfrm>
            <a:off x="4606442" y="3986784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7610" y="3913632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前端功能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14 页面全交互 + 3 断点响应式</a:t>
            </a:r>
          </a:p>
        </p:txBody>
      </p:sp>
      <p:sp>
        <p:nvSpPr>
          <p:cNvPr id="22" name="Oval 21"/>
          <p:cNvSpPr/>
          <p:nvPr/>
        </p:nvSpPr>
        <p:spPr>
          <a:xfrm>
            <a:off x="4606442" y="4754880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7610" y="4681728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降级异常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LLM 超时 / Neo4j 断连 / 证据不足 / 生成失败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5604" y="1463040"/>
            <a:ext cx="3527450" cy="3977639"/>
          </a:xfrm>
          <a:prstGeom prst="roundRect">
            <a:avLst>
              <a:gd name="adj" fmla="val 7000"/>
            </a:avLst>
          </a:prstGeom>
          <a:solidFill>
            <a:srgbClr val="E7F6F0"/>
          </a:solidFill>
          <a:ln w="12700">
            <a:solidFill>
              <a:srgbClr val="D8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71636" y="1700784"/>
            <a:ext cx="3015386" cy="45720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部署与安全</a:t>
            </a:r>
          </a:p>
        </p:txBody>
      </p:sp>
      <p:sp>
        <p:nvSpPr>
          <p:cNvPr id="26" name="Oval 25"/>
          <p:cNvSpPr/>
          <p:nvPr/>
        </p:nvSpPr>
        <p:spPr>
          <a:xfrm>
            <a:off x="8389924" y="2450592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1092" y="2377440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双部署方案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本地直跑 + Docker Compose，.env 模板化</a:t>
            </a:r>
          </a:p>
        </p:txBody>
      </p:sp>
      <p:sp>
        <p:nvSpPr>
          <p:cNvPr id="28" name="Oval 27"/>
          <p:cNvSpPr/>
          <p:nvPr/>
        </p:nvSpPr>
        <p:spPr>
          <a:xfrm>
            <a:off x="8389924" y="3218688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1092" y="3145536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认证安全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JWT 双 token 轮换 + bcrypt 密码哈希</a:t>
            </a:r>
          </a:p>
        </p:txBody>
      </p:sp>
      <p:sp>
        <p:nvSpPr>
          <p:cNvPr id="30" name="Oval 29"/>
          <p:cNvSpPr/>
          <p:nvPr/>
        </p:nvSpPr>
        <p:spPr>
          <a:xfrm>
            <a:off x="8389924" y="3986784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1092" y="3913632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越权防护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反馈提交校验消息归属</a:t>
            </a:r>
          </a:p>
        </p:txBody>
      </p:sp>
      <p:sp>
        <p:nvSpPr>
          <p:cNvPr id="32" name="Oval 31"/>
          <p:cNvSpPr/>
          <p:nvPr/>
        </p:nvSpPr>
        <p:spPr>
          <a:xfrm>
            <a:off x="8389924" y="4754880"/>
            <a:ext cx="91440" cy="91440"/>
          </a:xfrm>
          <a:prstGeom prst="ellipse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1092" y="4681728"/>
            <a:ext cx="281421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1F2937"/>
                </a:solidFill>
                <a:latin typeface="微软雅黑"/>
                <a:ea typeface="微软雅黑"/>
              </a:rPr>
              <a:t>密钥管理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472"/>
                </a:solidFill>
                <a:latin typeface="微软雅黑"/>
                <a:ea typeface="微软雅黑"/>
              </a:rPr>
              <a:t>API Key 全走环境变量，不入 Git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596128"/>
            <a:ext cx="11094415" cy="512064"/>
          </a:xfrm>
          <a:prstGeom prst="roundRect">
            <a:avLst>
              <a:gd name="adj" fmla="val 50000"/>
            </a:avLst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59E0B"/>
                </a:solidFill>
                <a:latin typeface="微软雅黑"/>
                <a:ea typeface="微软雅黑"/>
              </a:rPr>
              <a:t>★  </a:t>
            </a: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</a:rPr>
              <a:t>可观测性：</a:t>
            </a:r>
            <a:r>
              <a:rPr sz="1300" b="0" i="0">
                <a:solidFill>
                  <a:srgbClr val="DBE4F5"/>
                </a:solidFill>
                <a:latin typeface="微软雅黑"/>
                <a:ea typeface="微软雅黑"/>
              </a:rPr>
              <a:t>结构化日志 + runtime-status 健康面板一览 Neo4j / SQLite / LLM / Chroma 状态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528816"/>
            <a:ext cx="11094415" cy="0"/>
          </a:xfrm>
          <a:prstGeom prst="line">
            <a:avLst/>
          </a:prstGeom>
          <a:ln w="10160">
            <a:solidFill>
              <a:srgbClr val="D8DF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EduGraph-Agent · 基于知识图谱与多智能体协同的个性化学习平台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58368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472"/>
                </a:solidFill>
                <a:latin typeface="微软雅黑"/>
                <a:ea typeface="微软雅黑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194560" y="-2926080"/>
            <a:ext cx="6949440" cy="6949440"/>
          </a:xfrm>
          <a:prstGeom prst="ellipse">
            <a:avLst/>
          </a:prstGeom>
          <a:solidFill>
            <a:srgbClr val="1D4FC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0058400" y="1193292"/>
            <a:ext cx="740664" cy="452628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99064" y="1193292"/>
            <a:ext cx="658368" cy="576072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675620" y="1769364"/>
            <a:ext cx="781812" cy="576072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058400" y="1645920"/>
            <a:ext cx="617220" cy="699516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799064" y="1152144"/>
            <a:ext cx="1152144" cy="41148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457432" y="1152144"/>
            <a:ext cx="493776" cy="617220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457432" y="1769364"/>
            <a:ext cx="740664" cy="493776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75620" y="2263140"/>
            <a:ext cx="1522476" cy="82296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564624" y="1645920"/>
            <a:ext cx="493776" cy="493776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441180" y="1069848"/>
            <a:ext cx="617220" cy="576072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9441180" y="1069848"/>
            <a:ext cx="123444" cy="1069848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9441180" y="1069848"/>
            <a:ext cx="1357884" cy="123444"/>
          </a:xfrm>
          <a:prstGeom prst="line">
            <a:avLst/>
          </a:prstGeom>
          <a:ln w="12700">
            <a:solidFill>
              <a:srgbClr val="6B84C4">
                <a:alpha val="34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985248" y="1572768"/>
            <a:ext cx="146304" cy="146304"/>
          </a:xfrm>
          <a:prstGeom prst="ellipse">
            <a:avLst/>
          </a:prstGeom>
          <a:solidFill>
            <a:srgbClr val="8FA8E8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53344" y="1147572"/>
            <a:ext cx="91440" cy="91440"/>
          </a:xfrm>
          <a:prstGeom prst="ellipse">
            <a:avLst/>
          </a:prstGeom>
          <a:solidFill>
            <a:srgbClr val="8FA8E8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84280" y="1696212"/>
            <a:ext cx="146304" cy="146304"/>
          </a:xfrm>
          <a:prstGeom prst="ellipse">
            <a:avLst/>
          </a:prstGeom>
          <a:solidFill>
            <a:srgbClr val="8FA8E8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29900" y="2299716"/>
            <a:ext cx="91440" cy="91440"/>
          </a:xfrm>
          <a:prstGeom prst="ellipse">
            <a:avLst/>
          </a:prstGeom>
          <a:solidFill>
            <a:srgbClr val="8FA8E8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78056" y="1078992"/>
            <a:ext cx="146304" cy="146304"/>
          </a:xfrm>
          <a:prstGeom prst="ellipse">
            <a:avLst/>
          </a:prstGeom>
          <a:solidFill>
            <a:srgbClr val="8FA8E8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152376" y="2217420"/>
            <a:ext cx="91440" cy="91440"/>
          </a:xfrm>
          <a:prstGeom prst="ellipse">
            <a:avLst/>
          </a:prstGeom>
          <a:solidFill>
            <a:srgbClr val="8FA8E8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18904" y="2093976"/>
            <a:ext cx="91440" cy="91440"/>
          </a:xfrm>
          <a:prstGeom prst="ellipse">
            <a:avLst/>
          </a:prstGeom>
          <a:solidFill>
            <a:srgbClr val="8FA8E8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95459" y="1024127"/>
            <a:ext cx="91440" cy="91440"/>
          </a:xfrm>
          <a:prstGeom prst="ellipse">
            <a:avLst/>
          </a:prstGeom>
          <a:solidFill>
            <a:srgbClr val="8FA8E8">
              <a:alpha val="5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148840"/>
            <a:ext cx="1106424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让每一次学习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59E0B"/>
                </a:solidFill>
                <a:latin typeface="微软雅黑"/>
                <a:ea typeface="微软雅黑"/>
              </a:rPr>
              <a:t>有依据 · 有路径 · 有回响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9D6F2"/>
                </a:solidFill>
                <a:latin typeface="微软雅黑"/>
                <a:ea typeface="微软雅黑"/>
              </a:rPr>
              <a:t>EduGraph-Agent —— 懂课程结构、能追溯依据、越用越懂你的学习智能体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40"/>
            <a:ext cx="4206240" cy="475488"/>
          </a:xfrm>
          <a:prstGeom prst="roundRect">
            <a:avLst>
              <a:gd name="adj" fmla="val 50000"/>
            </a:avLst>
          </a:prstGeom>
          <a:solidFill>
            <a:srgbClr val="1E2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D6F2"/>
                </a:solidFill>
                <a:latin typeface="微软雅黑"/>
                <a:ea typeface="微软雅黑"/>
              </a:rPr>
              <a:t>演示账号  demo@edugraph.local / demo123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</a:rPr>
              <a:t>谢谢观看 · 欢迎评委提问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